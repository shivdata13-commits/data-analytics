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embeddedFontLst>
    <p:embeddedFont>
      <p:font typeface="Caveat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gi6NuiX/8ED8Z9Y7bUeI4iZ1g7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aveat-bold.fntdata"/><Relationship Id="rId14" Type="http://schemas.openxmlformats.org/officeDocument/2006/relationships/font" Target="fonts/Caveat-regular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f51a1722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df51a17225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f51a1722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df51a172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10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24" name="Google Shape;24;p10"/>
            <p:cNvCxnSpPr/>
            <p:nvPr/>
          </p:nvCxnSpPr>
          <p:spPr>
            <a:xfrm flipH="1" rot="10800000">
              <a:off x="5130830" y="4175605"/>
              <a:ext cx="4022475" cy="2682396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" name="Google Shape;25;p10"/>
            <p:cNvCxnSpPr/>
            <p:nvPr/>
          </p:nvCxnSpPr>
          <p:spPr>
            <a:xfrm>
              <a:off x="7042707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" name="Google Shape;26;p10"/>
            <p:cNvSpPr/>
            <p:nvPr/>
          </p:nvSpPr>
          <p:spPr>
            <a:xfrm>
              <a:off x="6891896" y="1"/>
              <a:ext cx="2269442" cy="6866466"/>
            </a:xfrm>
            <a:custGeom>
              <a:rect b="b" l="l" r="r" t="t"/>
              <a:pathLst>
                <a:path extrusionOk="0" h="6866466" w="2269442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7" name="Google Shape;27;p10"/>
            <p:cNvSpPr/>
            <p:nvPr/>
          </p:nvSpPr>
          <p:spPr>
            <a:xfrm>
              <a:off x="7205158" y="-8467"/>
              <a:ext cx="1948147" cy="6866467"/>
            </a:xfrm>
            <a:custGeom>
              <a:rect b="b" l="l" r="r" t="t"/>
              <a:pathLst>
                <a:path extrusionOk="0" h="6866467" w="194814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8" name="Google Shape;28;p10"/>
            <p:cNvSpPr/>
            <p:nvPr/>
          </p:nvSpPr>
          <p:spPr>
            <a:xfrm>
              <a:off x="6637896" y="3920066"/>
              <a:ext cx="2513565" cy="2937933"/>
            </a:xfrm>
            <a:custGeom>
              <a:rect b="b" l="l" r="r" t="t"/>
              <a:pathLst>
                <a:path extrusionOk="0" h="3810000" w="3259667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9" name="Google Shape;29;p10"/>
            <p:cNvSpPr/>
            <p:nvPr/>
          </p:nvSpPr>
          <p:spPr>
            <a:xfrm>
              <a:off x="7010429" y="-8467"/>
              <a:ext cx="2142876" cy="6866467"/>
            </a:xfrm>
            <a:custGeom>
              <a:rect b="b" l="l" r="r" t="t"/>
              <a:pathLst>
                <a:path extrusionOk="0" h="6866467" w="28532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70196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0" name="Google Shape;30;p10"/>
            <p:cNvSpPr/>
            <p:nvPr/>
          </p:nvSpPr>
          <p:spPr>
            <a:xfrm>
              <a:off x="8295776" y="-8467"/>
              <a:ext cx="857530" cy="6866467"/>
            </a:xfrm>
            <a:custGeom>
              <a:rect b="b" l="l" r="r" t="t"/>
              <a:pathLst>
                <a:path extrusionOk="0" h="6866467" w="1286933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BFE471">
                <a:alpha val="70196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1" name="Google Shape;31;p10"/>
            <p:cNvSpPr/>
            <p:nvPr/>
          </p:nvSpPr>
          <p:spPr>
            <a:xfrm>
              <a:off x="8077231" y="-8468"/>
              <a:ext cx="1066770" cy="6866467"/>
            </a:xfrm>
            <a:custGeom>
              <a:rect b="b" l="l" r="r" t="t"/>
              <a:pathLst>
                <a:path extrusionOk="0" h="6866467" w="1270244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2" name="Google Shape;32;p10"/>
            <p:cNvSpPr/>
            <p:nvPr/>
          </p:nvSpPr>
          <p:spPr>
            <a:xfrm>
              <a:off x="8060297" y="4893733"/>
              <a:ext cx="1094086" cy="1964267"/>
            </a:xfrm>
            <a:custGeom>
              <a:rect b="b" l="l" r="r" t="t"/>
              <a:pathLst>
                <a:path extrusionOk="0" h="3268133" w="18203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" name="Google Shape;33;p10"/>
            <p:cNvSpPr/>
            <p:nvPr/>
          </p:nvSpPr>
          <p:spPr>
            <a:xfrm>
              <a:off x="-8466" y="-8468"/>
              <a:ext cx="863600" cy="5698067"/>
            </a:xfrm>
            <a:custGeom>
              <a:rect b="b" l="l" r="r" t="t"/>
              <a:pathLst>
                <a:path extrusionOk="0" h="5698067" w="86360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34" name="Google Shape;34;p10"/>
          <p:cNvSpPr txBox="1"/>
          <p:nvPr>
            <p:ph type="ctrTitle"/>
          </p:nvPr>
        </p:nvSpPr>
        <p:spPr>
          <a:xfrm>
            <a:off x="1130595" y="2404534"/>
            <a:ext cx="5826719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subTitle"/>
          </p:nvPr>
        </p:nvSpPr>
        <p:spPr>
          <a:xfrm>
            <a:off x="1130595" y="4050834"/>
            <a:ext cx="5826719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10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609599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598" y="2700868"/>
            <a:ext cx="6347715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09598" y="4527448"/>
            <a:ext cx="6347715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09600" y="609600"/>
            <a:ext cx="6347714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09600" y="2160589"/>
            <a:ext cx="3088109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20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60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60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3869204" y="2160590"/>
            <a:ext cx="3088110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20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60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60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609599" y="2160983"/>
            <a:ext cx="309067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6" name="Google Shape;66;p15"/>
          <p:cNvSpPr txBox="1"/>
          <p:nvPr>
            <p:ph idx="2" type="body"/>
          </p:nvPr>
        </p:nvSpPr>
        <p:spPr>
          <a:xfrm>
            <a:off x="609599" y="2737246"/>
            <a:ext cx="3090672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3" type="body"/>
          </p:nvPr>
        </p:nvSpPr>
        <p:spPr>
          <a:xfrm>
            <a:off x="3866640" y="2160983"/>
            <a:ext cx="309067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8" name="Google Shape;68;p15"/>
          <p:cNvSpPr txBox="1"/>
          <p:nvPr>
            <p:ph idx="4" type="body"/>
          </p:nvPr>
        </p:nvSpPr>
        <p:spPr>
          <a:xfrm>
            <a:off x="3866640" y="2737246"/>
            <a:ext cx="3090672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609599" y="1498604"/>
            <a:ext cx="2790182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571275" y="514925"/>
            <a:ext cx="3386037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2" type="body"/>
          </p:nvPr>
        </p:nvSpPr>
        <p:spPr>
          <a:xfrm>
            <a:off x="609599" y="2777069"/>
            <a:ext cx="2790182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840"/>
              <a:buNone/>
              <a:defRPr sz="105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600"/>
              <a:buNone/>
              <a:defRPr sz="750"/>
            </a:lvl9pPr>
          </a:lstStyle>
          <a:p/>
        </p:txBody>
      </p:sp>
      <p:sp>
        <p:nvSpPr>
          <p:cNvPr id="80" name="Google Shape;80;p17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609599" y="4800600"/>
            <a:ext cx="6347714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/>
          <p:nvPr>
            <p:ph idx="2" type="pic"/>
          </p:nvPr>
        </p:nvSpPr>
        <p:spPr>
          <a:xfrm>
            <a:off x="609599" y="609600"/>
            <a:ext cx="6347714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609599" y="5367338"/>
            <a:ext cx="6347714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09600" y="609600"/>
            <a:ext cx="6347714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609600" y="4470400"/>
            <a:ext cx="6347714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774885" y="609600"/>
            <a:ext cx="6072182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1101074" y="3632200"/>
            <a:ext cx="54198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2" type="body"/>
          </p:nvPr>
        </p:nvSpPr>
        <p:spPr>
          <a:xfrm>
            <a:off x="609598" y="4470400"/>
            <a:ext cx="6347715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20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0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20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4" name="Google Shape;104;p20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609598" y="1931988"/>
            <a:ext cx="6347715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609598" y="4527448"/>
            <a:ext cx="6347715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8" name="Google Shape;108;p21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774885" y="609600"/>
            <a:ext cx="6072182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609597" y="4013200"/>
            <a:ext cx="6347716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4" name="Google Shape;114;p22"/>
          <p:cNvSpPr txBox="1"/>
          <p:nvPr>
            <p:ph idx="2" type="body"/>
          </p:nvPr>
        </p:nvSpPr>
        <p:spPr>
          <a:xfrm>
            <a:off x="609598" y="4527448"/>
            <a:ext cx="6347715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22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2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19" name="Google Shape;119;p22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615848" y="609600"/>
            <a:ext cx="6341465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609597" y="4013200"/>
            <a:ext cx="6347716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2" type="body"/>
          </p:nvPr>
        </p:nvSpPr>
        <p:spPr>
          <a:xfrm>
            <a:off x="609598" y="4527448"/>
            <a:ext cx="6347715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23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3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3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 rot="5400000">
            <a:off x="1843070" y="927120"/>
            <a:ext cx="3880773" cy="6347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0" name="Google Shape;130;p24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4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4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 rot="5400000">
            <a:off x="3840993" y="2745920"/>
            <a:ext cx="5251451" cy="97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 rot="5400000">
            <a:off x="581386" y="637813"/>
            <a:ext cx="5251451" cy="51950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6" name="Google Shape;136;p25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5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9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Google Shape;7;p9"/>
            <p:cNvSpPr/>
            <p:nvPr/>
          </p:nvSpPr>
          <p:spPr>
            <a:xfrm>
              <a:off x="-8467" y="4013200"/>
              <a:ext cx="457200" cy="2853267"/>
            </a:xfrm>
            <a:custGeom>
              <a:rect b="b" l="l" r="r" t="t"/>
              <a:pathLst>
                <a:path extrusionOk="0" h="2853267" w="45720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8" name="Google Shape;8;p9"/>
            <p:cNvCxnSpPr/>
            <p:nvPr/>
          </p:nvCxnSpPr>
          <p:spPr>
            <a:xfrm flipH="1" rot="10800000">
              <a:off x="5130830" y="4175605"/>
              <a:ext cx="4022475" cy="2682396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" name="Google Shape;9;p9"/>
            <p:cNvCxnSpPr/>
            <p:nvPr/>
          </p:nvCxnSpPr>
          <p:spPr>
            <a:xfrm>
              <a:off x="7042707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" name="Google Shape;10;p9"/>
            <p:cNvSpPr/>
            <p:nvPr/>
          </p:nvSpPr>
          <p:spPr>
            <a:xfrm>
              <a:off x="6891896" y="1"/>
              <a:ext cx="2269442" cy="6866466"/>
            </a:xfrm>
            <a:custGeom>
              <a:rect b="b" l="l" r="r" t="t"/>
              <a:pathLst>
                <a:path extrusionOk="0" h="6866466" w="2269442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1" name="Google Shape;11;p9"/>
            <p:cNvSpPr/>
            <p:nvPr/>
          </p:nvSpPr>
          <p:spPr>
            <a:xfrm>
              <a:off x="7205158" y="-8467"/>
              <a:ext cx="1948147" cy="6866467"/>
            </a:xfrm>
            <a:custGeom>
              <a:rect b="b" l="l" r="r" t="t"/>
              <a:pathLst>
                <a:path extrusionOk="0" h="6866467" w="194814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2" name="Google Shape;12;p9"/>
            <p:cNvSpPr/>
            <p:nvPr/>
          </p:nvSpPr>
          <p:spPr>
            <a:xfrm>
              <a:off x="6637896" y="3920066"/>
              <a:ext cx="2513565" cy="2937933"/>
            </a:xfrm>
            <a:custGeom>
              <a:rect b="b" l="l" r="r" t="t"/>
              <a:pathLst>
                <a:path extrusionOk="0" h="3810000" w="3259667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3" name="Google Shape;13;p9"/>
            <p:cNvSpPr/>
            <p:nvPr/>
          </p:nvSpPr>
          <p:spPr>
            <a:xfrm>
              <a:off x="7010429" y="-8467"/>
              <a:ext cx="2142876" cy="6866467"/>
            </a:xfrm>
            <a:custGeom>
              <a:rect b="b" l="l" r="r" t="t"/>
              <a:pathLst>
                <a:path extrusionOk="0" h="6866467" w="28532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70196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" name="Google Shape;14;p9"/>
            <p:cNvSpPr/>
            <p:nvPr/>
          </p:nvSpPr>
          <p:spPr>
            <a:xfrm>
              <a:off x="8295776" y="-8467"/>
              <a:ext cx="857530" cy="6866467"/>
            </a:xfrm>
            <a:custGeom>
              <a:rect b="b" l="l" r="r" t="t"/>
              <a:pathLst>
                <a:path extrusionOk="0" h="6866467" w="1286933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BFE471">
                <a:alpha val="70196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" name="Google Shape;15;p9"/>
            <p:cNvSpPr/>
            <p:nvPr/>
          </p:nvSpPr>
          <p:spPr>
            <a:xfrm>
              <a:off x="8077231" y="-8468"/>
              <a:ext cx="1066770" cy="6866467"/>
            </a:xfrm>
            <a:custGeom>
              <a:rect b="b" l="l" r="r" t="t"/>
              <a:pathLst>
                <a:path extrusionOk="0" h="6866467" w="1270244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" name="Google Shape;16;p9"/>
            <p:cNvSpPr/>
            <p:nvPr/>
          </p:nvSpPr>
          <p:spPr>
            <a:xfrm>
              <a:off x="8060297" y="4893733"/>
              <a:ext cx="1094086" cy="1964267"/>
            </a:xfrm>
            <a:custGeom>
              <a:rect b="b" l="l" r="r" t="t"/>
              <a:pathLst>
                <a:path extrusionOk="0" h="3268133" w="18203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17" name="Google Shape;17;p9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2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6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6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" name="Google Shape;19;p9"/>
          <p:cNvSpPr txBox="1"/>
          <p:nvPr>
            <p:ph idx="10" type="dt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0" name="Google Shape;20;p9"/>
          <p:cNvSpPr txBox="1"/>
          <p:nvPr>
            <p:ph idx="11" type="ftr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1" name="Google Shape;21;p9"/>
          <p:cNvSpPr txBox="1"/>
          <p:nvPr>
            <p:ph idx="12" type="sldNum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"/>
          <p:cNvSpPr txBox="1"/>
          <p:nvPr>
            <p:ph type="ctrTitle"/>
          </p:nvPr>
        </p:nvSpPr>
        <p:spPr>
          <a:xfrm>
            <a:off x="1130595" y="2404534"/>
            <a:ext cx="5826719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</a:pPr>
            <a:r>
              <a:rPr lang="en-US"/>
              <a:t>DOB Violations Data Analysis</a:t>
            </a:r>
            <a:endParaRPr/>
          </a:p>
        </p:txBody>
      </p:sp>
      <p:sp>
        <p:nvSpPr>
          <p:cNvPr id="144" name="Google Shape;144;p1"/>
          <p:cNvSpPr txBox="1"/>
          <p:nvPr>
            <p:ph idx="1" type="subTitle"/>
          </p:nvPr>
        </p:nvSpPr>
        <p:spPr>
          <a:xfrm>
            <a:off x="1130595" y="4050834"/>
            <a:ext cx="5826719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>
                <a:solidFill>
                  <a:srgbClr val="C00000"/>
                </a:solidFill>
              </a:rPr>
              <a:t>Capstone Project Presentation</a:t>
            </a:r>
            <a:endParaRPr/>
          </a:p>
          <a:p>
            <a:pPr indent="0" lvl="0" marL="0" rtl="0" algn="r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2000">
                <a:solidFill>
                  <a:srgbClr val="C00000"/>
                </a:solidFill>
              </a:rPr>
              <a:t>Prepared by Shivangi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 sz="36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</a:t>
            </a:r>
            <a:endParaRPr/>
          </a:p>
        </p:txBody>
      </p:sp>
      <p:sp>
        <p:nvSpPr>
          <p:cNvPr id="150" name="Google Shape;150;p2"/>
          <p:cNvSpPr txBox="1"/>
          <p:nvPr>
            <p:ph idx="1" type="body"/>
          </p:nvPr>
        </p:nvSpPr>
        <p:spPr>
          <a:xfrm>
            <a:off x="609600" y="2160599"/>
            <a:ext cx="6347700" cy="3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Analyze NYC DOB Violations data to identify patterns and trends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Investigate borough-level violation activity and penalties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Understand common violation types and enforcement patterns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Used Python and data visualization techniques to support findings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 sz="36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Data Source</a:t>
            </a:r>
            <a:endParaRPr/>
          </a:p>
        </p:txBody>
      </p:sp>
      <p:sp>
        <p:nvSpPr>
          <p:cNvPr id="156" name="Google Shape;156;p3"/>
          <p:cNvSpPr txBox="1"/>
          <p:nvPr>
            <p:ph idx="1" type="body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Source: DOB Violations CSV dataset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Rows: 1</a:t>
            </a:r>
            <a:r>
              <a:rPr lang="en-US"/>
              <a:t>31,213</a:t>
            </a:r>
            <a:r>
              <a:rPr lang="en-US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n-US"/>
              <a:t>Total 1.81M)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Columns: 46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Dataset updated : 05/14/2026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 contains violation details, boroughs, penalties, dates, and violation types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 txBox="1"/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 sz="36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Methodologies</a:t>
            </a:r>
            <a:endParaRPr/>
          </a:p>
        </p:txBody>
      </p:sp>
      <p:sp>
        <p:nvSpPr>
          <p:cNvPr id="162" name="Google Shape;162;p4"/>
          <p:cNvSpPr txBox="1"/>
          <p:nvPr>
            <p:ph idx="1" type="body"/>
          </p:nvPr>
        </p:nvSpPr>
        <p:spPr>
          <a:xfrm>
            <a:off x="609599" y="1930400"/>
            <a:ext cx="6347714" cy="3481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Downloaded dataset from NYC opendata 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Analyzed information using Python through Google Collab.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Utilized Python libraries: Pandas, Matplotlib, Seaborn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Cleaned Data and </a:t>
            </a:r>
            <a:r>
              <a:rPr lang="en-US"/>
              <a:t>Handled</a:t>
            </a:r>
            <a:r>
              <a:rPr lang="en-US"/>
              <a:t> missing values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Converted data types for numerical analysis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Grouped and aggregated data by borough, Penalty amounts and violation type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Created statistical summaries and visualizations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 txBox="1"/>
          <p:nvPr>
            <p:ph type="title"/>
          </p:nvPr>
        </p:nvSpPr>
        <p:spPr>
          <a:xfrm>
            <a:off x="609599" y="1498604"/>
            <a:ext cx="2790300" cy="12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Total Violation &amp; Penalty Amt</a:t>
            </a:r>
            <a:endParaRPr/>
          </a:p>
        </p:txBody>
      </p:sp>
      <p:pic>
        <p:nvPicPr>
          <p:cNvPr id="168" name="Google Shape;16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00" y="626250"/>
            <a:ext cx="4358175" cy="465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5"/>
          <p:cNvSpPr txBox="1"/>
          <p:nvPr>
            <p:ph idx="1" type="body"/>
          </p:nvPr>
        </p:nvSpPr>
        <p:spPr>
          <a:xfrm>
            <a:off x="4482075" y="1595025"/>
            <a:ext cx="3876000" cy="246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graph</a:t>
            </a:r>
            <a:r>
              <a:rPr lang="en-US"/>
              <a:t> Shows which borough has the most violations</a:t>
            </a:r>
            <a:endParaRPr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Brooklyn has the most violations and Staten Island has the least violations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f51a17225_0_5"/>
          <p:cNvSpPr txBox="1"/>
          <p:nvPr>
            <p:ph type="title"/>
          </p:nvPr>
        </p:nvSpPr>
        <p:spPr>
          <a:xfrm>
            <a:off x="609599" y="1498604"/>
            <a:ext cx="2790300" cy="12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Total Violation &amp; Penalty Amt</a:t>
            </a:r>
            <a:endParaRPr/>
          </a:p>
        </p:txBody>
      </p:sp>
      <p:pic>
        <p:nvPicPr>
          <p:cNvPr id="175" name="Google Shape;175;g3df51a17225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325" y="1498600"/>
            <a:ext cx="4339825" cy="43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df51a17225_0_5"/>
          <p:cNvSpPr txBox="1"/>
          <p:nvPr>
            <p:ph idx="1" type="body"/>
          </p:nvPr>
        </p:nvSpPr>
        <p:spPr>
          <a:xfrm>
            <a:off x="4921450" y="1810950"/>
            <a:ext cx="3897600" cy="3032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This graph shows the total penalty amount issued in each borough.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By aggregating penalty values, it highlights which boroughs contribute the most to overall fines.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This can indicate areas with higher severity violations or stronger enforcement activity.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"/>
          <p:cNvSpPr txBox="1"/>
          <p:nvPr>
            <p:ph idx="1" type="body"/>
          </p:nvPr>
        </p:nvSpPr>
        <p:spPr>
          <a:xfrm>
            <a:off x="1060950" y="4339850"/>
            <a:ext cx="6311400" cy="2239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This graph displays the distribution of violations by violation type.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It shows which types of violations occur most frequently, helping identify the most common compliance issues.</a:t>
            </a:r>
            <a:endParaRPr/>
          </a:p>
        </p:txBody>
      </p:sp>
      <p:pic>
        <p:nvPicPr>
          <p:cNvPr id="182" name="Google Shape;182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0950" y="468500"/>
            <a:ext cx="6389499" cy="343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f51a17225_0_0"/>
          <p:cNvSpPr txBox="1"/>
          <p:nvPr>
            <p:ph idx="1" type="body"/>
          </p:nvPr>
        </p:nvSpPr>
        <p:spPr>
          <a:xfrm>
            <a:off x="609599" y="2160590"/>
            <a:ext cx="6347700" cy="388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7200">
                <a:solidFill>
                  <a:schemeClr val="accent1"/>
                </a:solidFill>
                <a:latin typeface="Caveat"/>
                <a:ea typeface="Caveat"/>
                <a:cs typeface="Caveat"/>
                <a:sym typeface="Caveat"/>
              </a:rPr>
              <a:t>Thank you!!!</a:t>
            </a:r>
            <a:endParaRPr b="1" sz="7200">
              <a:solidFill>
                <a:schemeClr val="accen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